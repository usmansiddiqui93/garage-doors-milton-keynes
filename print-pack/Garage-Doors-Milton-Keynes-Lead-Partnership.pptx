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website built to rank for garage door searches in Milton Keynes, set up so every call and form goes to one local installer.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requires a real business that serves customers in the area to own and verify the profile, so it belongs to the partner. The website, domain and tracking number stay with us; that is what is being rented.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3A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an-driver-s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500" y="2349500"/>
            <a:ext cx="5334000" cy="2311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3A33B"/>
                </a:solidFill>
                <a:latin typeface="Figtree"/>
              </a:rPr>
              <a:t>LEAD PARTNERSHIP PROPOSAL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905000"/>
            <a:ext cx="5588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>
                <a:solidFill>
                  <a:srgbClr val="F4F6F9"/>
                </a:solidFill>
                <a:latin typeface="Bricolage Grotesque"/>
              </a:rPr>
              <a:t>Garage Doors Milton Keynes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3810000"/>
            <a:ext cx="546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C3CCDA"/>
                </a:solidFill>
                <a:latin typeface="Figtree"/>
              </a:rPr>
              <a:t>A ready-built website that sends garage door enquiries in Milton Keynes straight to your phone.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60452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3CCDA"/>
                </a:solidFill>
                <a:latin typeface="Figtree"/>
              </a:rPr>
              <a:t>Prepared by Muhammad Usman Siddiqui · garage-doors-milton-keynes.co.uk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89"/>
                </a:solidFill>
                <a:latin typeface="Figtree"/>
              </a:rP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213D"/>
                </a:solidFill>
                <a:latin typeface="Bricolage Grotesque"/>
              </a:rPr>
              <a:t>People search for garage doors every 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349500"/>
            <a:ext cx="3384550" cy="3556000"/>
          </a:xfrm>
          <a:prstGeom prst="roundRect">
            <a:avLst>
              <a:gd name="adj" fmla="val 5000"/>
            </a:avLst>
          </a:prstGeom>
          <a:solidFill>
            <a:srgbClr val="FBFBF8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200" y="2628900"/>
            <a:ext cx="2825750" cy="803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0" b="1">
                <a:solidFill>
                  <a:srgbClr val="1F4E89"/>
                </a:solidFill>
                <a:latin typeface="Bricolage Grotesque"/>
              </a:rPr>
              <a:t>478k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200" y="3502025"/>
            <a:ext cx="282575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213D"/>
                </a:solidFill>
                <a:latin typeface="Figtree"/>
              </a:rPr>
              <a:t>UK searches a 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200" y="3883025"/>
            <a:ext cx="2825750" cy="183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A5568"/>
                </a:solidFill>
                <a:latin typeface="Figtree"/>
              </a:rPr>
              <a:t>Across 38,964 garage door keywords, from repairs to new electric doors.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0550" y="2349500"/>
            <a:ext cx="3384550" cy="3556000"/>
          </a:xfrm>
          <a:prstGeom prst="roundRect">
            <a:avLst>
              <a:gd name="adj" fmla="val 5000"/>
            </a:avLst>
          </a:prstGeom>
          <a:solidFill>
            <a:srgbClr val="FBFBF8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9950" y="2628900"/>
            <a:ext cx="2825750" cy="803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0" b="1">
                <a:solidFill>
                  <a:srgbClr val="1F4E89"/>
                </a:solidFill>
                <a:latin typeface="Bricolage Grotesque"/>
              </a:rPr>
              <a:t>10,950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9950" y="3502025"/>
            <a:ext cx="282575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213D"/>
                </a:solidFill>
                <a:latin typeface="Figtree"/>
              </a:rPr>
              <a:t>Local searches a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9950" y="3883025"/>
            <a:ext cx="2825750" cy="183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A5568"/>
                </a:solidFill>
                <a:latin typeface="Figtree"/>
              </a:rPr>
              <a:t>Searches that name Milton Keynes or one of the 14 nearby towns the site covers.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8300" y="2349500"/>
            <a:ext cx="3384550" cy="35560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7700" y="2628900"/>
            <a:ext cx="2825750" cy="803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0" b="1">
                <a:solidFill>
                  <a:srgbClr val="E3A33B"/>
                </a:solidFill>
                <a:latin typeface="Bricolage Grotesque"/>
              </a:rPr>
              <a:t>£2.88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7700" y="3502025"/>
            <a:ext cx="282575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4F6F9"/>
                </a:solidFill>
                <a:latin typeface="Figtree"/>
              </a:rPr>
              <a:t>Average cost per click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7700" y="3883025"/>
            <a:ext cx="2825750" cy="183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C3CCDA"/>
                </a:solidFill>
                <a:latin typeface="Figtree"/>
              </a:rPr>
              <a:t>What advertisers pay Google for one click on a Milton Keynes garage door search.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62230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568"/>
                </a:solidFill>
                <a:latin typeface="Figtree"/>
              </a:rPr>
              <a:t>Source: Ahrefs keyword export, Google UK, October 2026. Monthly search volumes.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89"/>
                </a:solidFill>
                <a:latin typeface="Figtree"/>
              </a:rPr>
              <a:t>LOCAL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4699000" cy="209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213D"/>
                </a:solidFill>
                <a:latin typeface="Bricolage Grotesque"/>
              </a:rPr>
              <a:t>One site covers Milton Keynes and five big neighbours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302000"/>
            <a:ext cx="46990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4A5568"/>
                </a:solidFill>
                <a:latin typeface="Figtree"/>
              </a:rPr>
              <a:t>Every town has its own page on the site, so one website can win searches across the whole patch, not just central Milton Keynes.</a:t>
            </a:r>
          </a:p>
          <a:p>
            <a:pPr algn="l">
              <a:lnSpc>
                <a:spcPct val="135000"/>
              </a:lnSpc>
              <a:spcBef>
                <a:spcPts val="750"/>
              </a:spcBef>
            </a:pPr>
            <a:r>
              <a:rPr sz="1500" b="0">
                <a:solidFill>
                  <a:srgbClr val="4A5568"/>
                </a:solidFill>
                <a:latin typeface="Figtree"/>
              </a:rPr>
              <a:t>On top of these, Google shows local results for unnamed searches like </a:t>
            </a:r>
            <a:r>
              <a:rPr sz="1500" b="1">
                <a:solidFill>
                  <a:srgbClr val="4A5568"/>
                </a:solidFill>
                <a:latin typeface="Figtree"/>
              </a:rPr>
              <a:t>"garage doors near me"</a:t>
            </a:r>
            <a:r>
              <a:rPr sz="1500" b="0">
                <a:solidFill>
                  <a:srgbClr val="4A5568"/>
                </a:solidFill>
                <a:latin typeface="Figtree"/>
              </a:rPr>
              <a:t>, which gets 3,800 searches a month UK-wide on its own.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0" y="1092200"/>
          <a:ext cx="5283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7264"/>
                <a:gridCol w="1162304"/>
                <a:gridCol w="137363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4213D"/>
                          </a:solidFill>
                          <a:latin typeface="Figtree"/>
                        </a:rPr>
                        <a:t>Town</a:t>
                      </a:r>
                    </a:p>
                  </a:txBody>
                  <a:tcPr marL="101600" marR="101600" anchor="ctr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4213D"/>
                          </a:solidFill>
                          <a:latin typeface="Figtree"/>
                        </a:rPr>
                        <a:t>Keywords</a:t>
                      </a:r>
                    </a:p>
                  </a:txBody>
                  <a:tcPr marL="101600" marR="101600" anchor="ctr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4213D"/>
                          </a:solidFill>
                          <a:latin typeface="Figtree"/>
                        </a:rPr>
                        <a:t>Searches / mo</a:t>
                      </a:r>
                    </a:p>
                  </a:txBody>
                  <a:tcPr marL="101600" marR="101600" anchor="ctr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Figtree"/>
                        </a:rPr>
                        <a:t>Northampton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Figtree"/>
                        </a:rPr>
                        <a:t>83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Figtree"/>
                        </a:rPr>
                        <a:t>3,620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Figtree"/>
                        </a:rPr>
                        <a:t>Milton Keynes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Figtree"/>
                        </a:rPr>
                        <a:t>47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Figtree"/>
                        </a:rPr>
                        <a:t>2,580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Figtree"/>
                        </a:rPr>
                        <a:t>Bedford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Figtree"/>
                        </a:rPr>
                        <a:t>67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Figtree"/>
                        </a:rPr>
                        <a:t>2,290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Figtree"/>
                        </a:rPr>
                        <a:t>Aylesbury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Figtree"/>
                        </a:rPr>
                        <a:t>25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Figtree"/>
                        </a:rPr>
                        <a:t>1,730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Figtree"/>
                        </a:rPr>
                        <a:t>Buckingham &amp; Bucks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Figtree"/>
                        </a:rPr>
                        <a:t>26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Figtree"/>
                        </a:rPr>
                        <a:t>580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Figtree"/>
                        </a:rPr>
                        <a:t>Leighton Buzzard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Figtree"/>
                        </a:rPr>
                        <a:t>15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Figtree"/>
                        </a:rPr>
                        <a:t>60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Figtree"/>
                        </a:rPr>
                        <a:t>Other towns (9)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Figtree"/>
                        </a:rPr>
                        <a:t>5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Figtree"/>
                        </a:rPr>
                        <a:t>80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4213D"/>
                          </a:solidFill>
                          <a:latin typeface="Figtree"/>
                        </a:rPr>
                        <a:t>All covered areas</a:t>
                      </a:r>
                    </a:p>
                  </a:txBody>
                  <a:tcPr marL="101600" marR="101600" anchor="ctr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4213D"/>
                          </a:solidFill>
                          <a:latin typeface="Figtree"/>
                        </a:rPr>
                        <a:t>270</a:t>
                      </a:r>
                    </a:p>
                  </a:txBody>
                  <a:tcPr marL="101600" marR="101600" anchor="ctr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4213D"/>
                          </a:solidFill>
                          <a:latin typeface="Figtree"/>
                        </a:rPr>
                        <a:t>10,950</a:t>
                      </a:r>
                    </a:p>
                  </a:txBody>
                  <a:tcPr marL="101600" marR="101600" anchor="ctr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12800" y="62230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568"/>
                </a:solidFill>
                <a:latin typeface="Figtree"/>
              </a:rPr>
              <a:t>Source: Ahrefs, Google UK. Counts only keywords that name the town. Other towns: Bletchley, Newport Pagnell, Olney, Wolverton, Stony Stratford, Towcester, Woburn Sands, Cranfield, Winslow.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89"/>
                </a:solidFill>
                <a:latin typeface="Figtree"/>
              </a:rPr>
              <a:t>TOP MILTON KEYNES SEARCHES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975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213D"/>
                </a:solidFill>
                <a:latin typeface="Bricolage Grotesque"/>
              </a:rPr>
              <a:t>The site has a page built for each of these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2095500"/>
          <a:ext cx="105664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4528"/>
                <a:gridCol w="1690624"/>
                <a:gridCol w="1267968"/>
                <a:gridCol w="2113280"/>
              </a:tblGrid>
              <a:tr h="3937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213D"/>
                          </a:solidFill>
                          <a:latin typeface="Figtree"/>
                        </a:rPr>
                        <a:t>Keyword</a:t>
                      </a:r>
                    </a:p>
                  </a:txBody>
                  <a:tcPr marL="101600" marR="101600" anchor="ctr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4213D"/>
                          </a:solidFill>
                          <a:latin typeface="Figtree"/>
                        </a:rPr>
                        <a:t>Searches / mo</a:t>
                      </a:r>
                    </a:p>
                  </a:txBody>
                  <a:tcPr marL="101600" marR="101600" anchor="ctr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4213D"/>
                          </a:solidFill>
                          <a:latin typeface="Figtree"/>
                        </a:rPr>
                        <a:t>CPC</a:t>
                      </a:r>
                    </a:p>
                  </a:txBody>
                  <a:tcPr marL="101600" marR="101600" anchor="ctr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213D"/>
                          </a:solidFill>
                          <a:latin typeface="Figtree"/>
                        </a:rPr>
                        <a:t>Page on the site</a:t>
                      </a:r>
                    </a:p>
                  </a:txBody>
                  <a:tcPr marL="101600" marR="101600" anchor="ctr">
                    <a:solidFill>
                      <a:srgbClr val="E6EBF2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garage doors milton keynes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400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£2.50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Home page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roller garage doors milton keynes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150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£3.50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Roller doors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hormann garage doors milton keynes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150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£4.50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Hörmann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up and over garage doors milton keynes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150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£3.00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Up and over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side hinged garage doors milton keynes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150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n/a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Side hinged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sectional garage doors milton keynes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150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n/a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Sectional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wooden garage doors milton keynes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100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n/a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Wooden &amp; timber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automatic garage doors milton keynes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90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£0.80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Electric doors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garage doors repairs milton keynes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90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n/a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Repairs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800" y="62230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568"/>
                </a:solidFill>
                <a:latin typeface="Figtree"/>
              </a:rPr>
              <a:t>Source: Ahrefs, Google UK. CPC = average Google Ads cost per click; n/a = not reported for that keyword.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89"/>
                </a:solidFill>
                <a:latin typeface="Figtree"/>
              </a:rPr>
              <a:t>WHAT PEOPLE SEARCH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975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213D"/>
                </a:solidFill>
                <a:latin typeface="Bricolage Grotesque"/>
              </a:rPr>
              <a:t>Roller and electric doors drive the most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184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Figtree"/>
              </a:rPr>
              <a:t>Roller doors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1000" y="2159000"/>
            <a:ext cx="6985000" cy="266700"/>
          </a:xfrm>
          <a:prstGeom prst="rect">
            <a:avLst/>
          </a:prstGeom>
          <a:solidFill>
            <a:srgbClr val="1F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33000" y="21844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Figtree"/>
              </a:rPr>
              <a:t>75,490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6035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Figtree"/>
              </a:rPr>
              <a:t>Electric / automatic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1000" y="2578100"/>
            <a:ext cx="6162418" cy="266700"/>
          </a:xfrm>
          <a:prstGeom prst="rect">
            <a:avLst/>
          </a:prstGeom>
          <a:solidFill>
            <a:srgbClr val="1F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0418" y="26035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Figtree"/>
              </a:rPr>
              <a:t>66,600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30226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Figtree"/>
              </a:rPr>
              <a:t>Wooden / timber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1000" y="2997200"/>
            <a:ext cx="3048824" cy="266700"/>
          </a:xfrm>
          <a:prstGeom prst="rect">
            <a:avLst/>
          </a:prstGeom>
          <a:solidFill>
            <a:srgbClr val="7C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824" y="30226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Figtree"/>
              </a:rPr>
              <a:t>32,950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34417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Figtree"/>
              </a:rPr>
              <a:t>Sectional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1000" y="3416300"/>
            <a:ext cx="1907944" cy="266700"/>
          </a:xfrm>
          <a:prstGeom prst="rect">
            <a:avLst/>
          </a:prstGeom>
          <a:solidFill>
            <a:srgbClr val="7C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5944" y="34417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Figtree"/>
              </a:rPr>
              <a:t>20,620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38608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Figtree"/>
              </a:rPr>
              <a:t>Up and 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1000" y="3835400"/>
            <a:ext cx="1885737" cy="266700"/>
          </a:xfrm>
          <a:prstGeom prst="rect">
            <a:avLst/>
          </a:prstGeom>
          <a:solidFill>
            <a:srgbClr val="7C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3737" y="38608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Figtree"/>
              </a:rPr>
              <a:t>20,380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42799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Figtree"/>
              </a:rPr>
              <a:t>Prices &amp; 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1000" y="4254500"/>
            <a:ext cx="1851501" cy="266700"/>
          </a:xfrm>
          <a:prstGeom prst="rect">
            <a:avLst/>
          </a:prstGeom>
          <a:solidFill>
            <a:srgbClr val="E3A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9501" y="42799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Figtree"/>
              </a:rPr>
              <a:t>20,010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46990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Figtree"/>
              </a:rPr>
              <a:t>Insulated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1000" y="4673600"/>
            <a:ext cx="1808012" cy="266700"/>
          </a:xfrm>
          <a:prstGeom prst="rect">
            <a:avLst/>
          </a:prstGeom>
          <a:solidFill>
            <a:srgbClr val="7C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56012" y="46990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Figtree"/>
              </a:rPr>
              <a:t>19,540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51181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Figtree"/>
              </a:rPr>
              <a:t>Side hinged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1000" y="5092700"/>
            <a:ext cx="1581317" cy="266700"/>
          </a:xfrm>
          <a:prstGeom prst="rect">
            <a:avLst/>
          </a:prstGeom>
          <a:solidFill>
            <a:srgbClr val="7C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9317" y="51181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Figtree"/>
              </a:rPr>
              <a:t>17,090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800" y="55372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Figtree"/>
              </a:rPr>
              <a:t>Repairs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1000" y="5511800"/>
            <a:ext cx="821655" cy="266700"/>
          </a:xfrm>
          <a:prstGeom prst="rect">
            <a:avLst/>
          </a:prstGeom>
          <a:solidFill>
            <a:srgbClr val="E3A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69655" y="55372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Figtree"/>
              </a:rPr>
              <a:t>8,880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800" y="62230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568"/>
                </a:solidFill>
                <a:latin typeface="Figtree"/>
              </a:rPr>
              <a:t>Monthly UK searches by topic. Source: Ahrefs, Google UK. A keyword can count in more than one topic (e.g. "electric roller garage doors").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9525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3A33B"/>
                </a:solidFill>
                <a:latin typeface="Figtree"/>
              </a:rPr>
              <a:t>THE ASSET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270000"/>
            <a:ext cx="406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4F6F9"/>
                </a:solidFill>
                <a:latin typeface="Bricolage Grotesque"/>
              </a:rPr>
              <a:t>A 72-page website, already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1750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9"/>
                </a:solidFill>
                <a:latin typeface="Figtree"/>
              </a:rPr>
              <a:t>17 </a:t>
            </a:r>
            <a:r>
              <a:rPr sz="1400" b="0">
                <a:solidFill>
                  <a:srgbClr val="C3CCDA"/>
                </a:solidFill>
                <a:latin typeface="Figtree"/>
              </a:rPr>
              <a:t>door type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4800" y="31750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9"/>
                </a:solidFill>
                <a:latin typeface="Figtree"/>
              </a:rPr>
              <a:t>8 </a:t>
            </a:r>
            <a:r>
              <a:rPr sz="1400" b="0">
                <a:solidFill>
                  <a:srgbClr val="C3CCDA"/>
                </a:solidFill>
                <a:latin typeface="Figtree"/>
              </a:rPr>
              <a:t>service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35306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9"/>
                </a:solidFill>
                <a:latin typeface="Figtree"/>
              </a:rPr>
              <a:t>14 </a:t>
            </a:r>
            <a:r>
              <a:rPr sz="1400" b="0">
                <a:solidFill>
                  <a:srgbClr val="C3CCDA"/>
                </a:solidFill>
                <a:latin typeface="Figtree"/>
              </a:rPr>
              <a:t>local area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44800" y="35306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9"/>
                </a:solidFill>
                <a:latin typeface="Figtree"/>
              </a:rPr>
              <a:t>6 </a:t>
            </a:r>
            <a:r>
              <a:rPr sz="1400" b="0">
                <a:solidFill>
                  <a:srgbClr val="C3CCDA"/>
                </a:solidFill>
                <a:latin typeface="Figtree"/>
              </a:rPr>
              <a:t>brand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38862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9"/>
                </a:solidFill>
                <a:latin typeface="Figtree"/>
              </a:rPr>
              <a:t>17 </a:t>
            </a:r>
            <a:r>
              <a:rPr sz="1400" b="0">
                <a:solidFill>
                  <a:srgbClr val="C3CCDA"/>
                </a:solidFill>
                <a:latin typeface="Figtree"/>
              </a:rPr>
              <a:t>expert guides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4800" y="38862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9"/>
                </a:solidFill>
                <a:latin typeface="Figtree"/>
              </a:rPr>
              <a:t>1 </a:t>
            </a:r>
            <a:r>
              <a:rPr sz="1400" b="0">
                <a:solidFill>
                  <a:srgbClr val="C3CCDA"/>
                </a:solidFill>
                <a:latin typeface="Figtree"/>
              </a:rPr>
              <a:t>full price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4445000"/>
            <a:ext cx="40640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C3CCDA"/>
                </a:solidFill>
                <a:latin typeface="Figtree"/>
              </a:rPr>
              <a:t>Every page links to the others, carries Google's structured data and has a call button and quote form. It works on phones, where most of these searches happen.</a:t>
            </a:r>
          </a:p>
        </p:txBody>
      </p:sp>
      <p:pic>
        <p:nvPicPr>
          <p:cNvPr id="11" name="Picture 10" descr="sit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500" y="1651000"/>
            <a:ext cx="5588000" cy="3492500"/>
          </a:xfrm>
          <a:prstGeom prst="rect">
            <a:avLst/>
          </a:prstGeom>
        </p:spPr>
      </p:pic>
      <p:pic>
        <p:nvPicPr>
          <p:cNvPr id="12" name="Picture 11" descr="site-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0" y="1397000"/>
            <a:ext cx="1587500" cy="3435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89"/>
                </a:solidFill>
                <a:latin typeface="Figtree"/>
              </a:rPr>
              <a:t>HOW RANK AND RENT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213D"/>
                </a:solidFill>
                <a:latin typeface="Bricolage Grotesque"/>
              </a:rPr>
              <a:t>We bring the enquiries. You do the jobs.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413000"/>
            <a:ext cx="2286000" cy="2413000"/>
          </a:xfrm>
          <a:prstGeom prst="roundRect">
            <a:avLst>
              <a:gd name="adj" fmla="val 5000"/>
            </a:avLst>
          </a:prstGeom>
          <a:solidFill>
            <a:srgbClr val="FBFBF8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400" y="2616200"/>
            <a:ext cx="177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4E89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1400" y="3111500"/>
            <a:ext cx="18415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213D"/>
                </a:solidFill>
                <a:latin typeface="Figtree"/>
              </a:rPr>
              <a:t>A homeowner searches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1400" y="3810000"/>
            <a:ext cx="1841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A5568"/>
                </a:solidFill>
                <a:latin typeface="Figtree"/>
              </a:rPr>
              <a:t>"Electric garage doors Milton Keynes" on Google or Maps.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62300" y="3524250"/>
            <a:ext cx="304800" cy="190500"/>
          </a:xfrm>
          <a:prstGeom prst="rightArrow">
            <a:avLst/>
          </a:prstGeom>
          <a:solidFill>
            <a:srgbClr val="E3A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05200" y="2413000"/>
            <a:ext cx="2286000" cy="2413000"/>
          </a:xfrm>
          <a:prstGeom prst="roundRect">
            <a:avLst>
              <a:gd name="adj" fmla="val 5000"/>
            </a:avLst>
          </a:prstGeom>
          <a:solidFill>
            <a:srgbClr val="FBFBF8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3800" y="2616200"/>
            <a:ext cx="177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4E89"/>
                </a:solidFill>
                <a:latin typeface="Bricolage Grotesq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800" y="3111500"/>
            <a:ext cx="18415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213D"/>
                </a:solidFill>
                <a:latin typeface="Figtree"/>
              </a:rPr>
              <a:t>They find our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3800" y="3810000"/>
            <a:ext cx="1841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A5568"/>
                </a:solidFill>
                <a:latin typeface="Figtree"/>
              </a:rPr>
              <a:t>A page built for exactly that door, with prices and answers.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54700" y="3524250"/>
            <a:ext cx="304800" cy="190500"/>
          </a:xfrm>
          <a:prstGeom prst="rightArrow">
            <a:avLst/>
          </a:prstGeom>
          <a:solidFill>
            <a:srgbClr val="E3A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7600" y="2413000"/>
            <a:ext cx="2286000" cy="2413000"/>
          </a:xfrm>
          <a:prstGeom prst="roundRect">
            <a:avLst>
              <a:gd name="adj" fmla="val 5000"/>
            </a:avLst>
          </a:prstGeom>
          <a:solidFill>
            <a:srgbClr val="FBFBF8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6200" y="2616200"/>
            <a:ext cx="177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4E89"/>
                </a:solidFill>
                <a:latin typeface="Bricolage Grotesq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6200" y="3111500"/>
            <a:ext cx="18415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213D"/>
                </a:solidFill>
                <a:latin typeface="Figtree"/>
              </a:rPr>
              <a:t>They call or send a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3810000"/>
            <a:ext cx="1841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A5568"/>
                </a:solidFill>
                <a:latin typeface="Figtree"/>
              </a:rPr>
              <a:t>A local 01908 number we own, or the quote form.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547100" y="3524250"/>
            <a:ext cx="304800" cy="190500"/>
          </a:xfrm>
          <a:prstGeom prst="rightArrow">
            <a:avLst/>
          </a:prstGeom>
          <a:solidFill>
            <a:srgbClr val="E3A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90000" y="2413000"/>
            <a:ext cx="2286000" cy="24130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18600" y="2616200"/>
            <a:ext cx="177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3A33B"/>
                </a:solidFill>
                <a:latin typeface="Bricolage Grotesque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8600" y="3111500"/>
            <a:ext cx="18415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4F6F9"/>
                </a:solidFill>
                <a:latin typeface="Figtree"/>
              </a:rPr>
              <a:t>Your phone rings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8600" y="3810000"/>
            <a:ext cx="1841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3CCDA"/>
                </a:solidFill>
                <a:latin typeface="Figtree"/>
              </a:rPr>
              <a:t>The call forwards to you instantly. You quote and win the job.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800" y="5207000"/>
            <a:ext cx="105664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A5568"/>
                </a:solidFill>
                <a:latin typeface="Figtree"/>
              </a:rPr>
              <a:t>You pay a monthly fee for exclusive use of the site and its leads. We keep the site, the number and the rankings working.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89"/>
                </a:solidFill>
                <a:latin typeface="Figtree"/>
              </a:rPr>
              <a:t>WHAT A LEAD IS WORTH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213D"/>
                </a:solidFill>
                <a:latin typeface="Bricolage Grotesque"/>
              </a:rPr>
              <a:t>One won install pays for months of rent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349500"/>
            <a:ext cx="3384550" cy="3556000"/>
          </a:xfrm>
          <a:prstGeom prst="roundRect">
            <a:avLst>
              <a:gd name="adj" fmla="val 5000"/>
            </a:avLst>
          </a:prstGeom>
          <a:solidFill>
            <a:srgbClr val="FBFBF8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200" y="2628900"/>
            <a:ext cx="2825750" cy="4527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1F4E89"/>
                </a:solidFill>
                <a:latin typeface="Bricolage Grotesque"/>
              </a:rPr>
              <a:t>£25–£90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200" y="3121025"/>
            <a:ext cx="282575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213D"/>
                </a:solidFill>
                <a:latin typeface="Figtree"/>
              </a:rPr>
              <a:t>Buying leads from Google 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200" y="3502025"/>
            <a:ext cx="2825750" cy="221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A5568"/>
                </a:solidFill>
                <a:latin typeface="Figtree"/>
              </a:rPr>
              <a:t>Per enquiry, at £2.50–£4.50 a click if 5–10% of clicks get in touch. The cost stops the day the ads stop.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0550" y="2349500"/>
            <a:ext cx="3384550" cy="3556000"/>
          </a:xfrm>
          <a:prstGeom prst="roundRect">
            <a:avLst>
              <a:gd name="adj" fmla="val 5000"/>
            </a:avLst>
          </a:prstGeom>
          <a:solidFill>
            <a:srgbClr val="FBFBF8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9950" y="2628900"/>
            <a:ext cx="2825750" cy="4527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1F4E89"/>
                </a:solidFill>
                <a:latin typeface="Bricolage Grotesque"/>
              </a:rPr>
              <a:t>£700–£2,800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9950" y="3121025"/>
            <a:ext cx="282575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213D"/>
                </a:solidFill>
                <a:latin typeface="Figtree"/>
              </a:rPr>
              <a:t>A typical job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9950" y="3502025"/>
            <a:ext cx="2825750" cy="221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A5568"/>
                </a:solidFill>
                <a:latin typeface="Figtree"/>
              </a:rPr>
              <a:t>From a fitted steel up and over door to a single electric roller door, using the site's own price guide.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8300" y="2349500"/>
            <a:ext cx="3390900" cy="35560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7700" y="2628900"/>
            <a:ext cx="2832100" cy="4527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E3A33B"/>
                </a:solidFill>
                <a:latin typeface="Bricolage Grotesque"/>
              </a:rPr>
              <a:t>Fixed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7700" y="3121025"/>
            <a:ext cx="28321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4F6F9"/>
                </a:solidFill>
                <a:latin typeface="Figtree"/>
              </a:rPr>
              <a:t>Rank and 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7700" y="3502025"/>
            <a:ext cx="2832100" cy="221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C3CCDA"/>
                </a:solidFill>
                <a:latin typeface="Figtree"/>
              </a:rPr>
              <a:t>One monthly fee for every call and form, with no cost per click and no bidding against competitors.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62230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568"/>
                </a:solidFill>
                <a:latin typeface="Figtree"/>
              </a:rPr>
              <a:t>CPC range from the Ahrefs data (Milton Keynes and Aylesbury terms). Enquiry rates and job values are typical estimates, not guarantees.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3A33B"/>
                </a:solidFill>
                <a:latin typeface="Figtree"/>
              </a:rPr>
              <a:t>LEAD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4F6F9"/>
                </a:solidFill>
                <a:latin typeface="Bricolage Grotesque"/>
              </a:rPr>
              <a:t>What the site could send once it ranks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857500"/>
            <a:ext cx="2159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4F6F9"/>
                </a:solidFill>
                <a:latin typeface="Bricolage Grotesque"/>
              </a:rPr>
              <a:t>10,950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556000"/>
            <a:ext cx="2159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3CCDA"/>
                </a:solidFill>
                <a:latin typeface="Figtree"/>
              </a:rPr>
              <a:t>local searches a 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921000"/>
            <a:ext cx="508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>
                <a:solidFill>
                  <a:srgbClr val="E3A33B"/>
                </a:solidFill>
                <a:latin typeface="Figtree"/>
              </a:rPr>
              <a:t>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9800" y="2857500"/>
            <a:ext cx="2159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4F6F9"/>
                </a:solidFill>
                <a:latin typeface="Bricolage Grotesque"/>
              </a:rPr>
              <a:t>5–10%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9800" y="3556000"/>
            <a:ext cx="2159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3CCDA"/>
                </a:solidFill>
                <a:latin typeface="Figtree"/>
              </a:rPr>
              <a:t>click on our 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8800" y="2921000"/>
            <a:ext cx="508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>
                <a:solidFill>
                  <a:srgbClr val="E3A33B"/>
                </a:solidFill>
                <a:latin typeface="Figtree"/>
              </a:rPr>
              <a:t>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6800" y="2857500"/>
            <a:ext cx="2159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4F6F9"/>
                </a:solidFill>
                <a:latin typeface="Bricolage Grotesque"/>
              </a:rPr>
              <a:t>4–6%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6800" y="3556000"/>
            <a:ext cx="2159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3CCDA"/>
                </a:solidFill>
                <a:latin typeface="Figtree"/>
              </a:rPr>
              <a:t>call or send a 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800" y="2921000"/>
            <a:ext cx="508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>
                <a:solidFill>
                  <a:srgbClr val="E3A33B"/>
                </a:solidFill>
                <a:latin typeface="Figtree"/>
              </a:rPr>
              <a:t>=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667000"/>
            <a:ext cx="2794000" cy="1460500"/>
          </a:xfrm>
          <a:prstGeom prst="roundRect">
            <a:avLst>
              <a:gd name="adj" fmla="val 5000"/>
            </a:avLst>
          </a:prstGeom>
          <a:solidFill>
            <a:srgbClr val="E3A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0800" y="2857500"/>
            <a:ext cx="2413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14213D"/>
                </a:solidFill>
                <a:latin typeface="Bricolage Grotesque"/>
              </a:rPr>
              <a:t>22–66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0800" y="3556000"/>
            <a:ext cx="2413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Figtree"/>
              </a:rPr>
              <a:t>enquiries a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4826000"/>
            <a:ext cx="9525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C3CCDA"/>
                </a:solidFill>
                <a:latin typeface="Figtree"/>
              </a:rPr>
              <a:t>This is an illustrative range for a mature site, typically 6 to 12 months after launch. Real results depend on rankings, competition and how quickly calls are answered. We track every call so both sides see the real numbers.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89"/>
                </a:solidFill>
                <a:latin typeface="Figtree"/>
              </a:rPr>
              <a:t>SETUP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975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213D"/>
                </a:solidFill>
                <a:latin typeface="Bricolage Grotesque"/>
              </a:rPr>
              <a:t>Seven steps from launch to steady leads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2032000"/>
          <a:ext cx="10566400" cy="375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984"/>
                <a:gridCol w="5494528"/>
                <a:gridCol w="1901952"/>
                <a:gridCol w="2535936"/>
              </a:tblGrid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213D"/>
                          </a:solidFill>
                          <a:latin typeface="Figtree"/>
                        </a:rPr>
                        <a:t>#</a:t>
                      </a:r>
                    </a:p>
                  </a:txBody>
                  <a:tcPr marL="101600" marR="101600" anchor="ctr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213D"/>
                          </a:solidFill>
                          <a:latin typeface="Figtree"/>
                        </a:rPr>
                        <a:t>Step</a:t>
                      </a:r>
                    </a:p>
                  </a:txBody>
                  <a:tcPr marL="101600" marR="101600" anchor="ctr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213D"/>
                          </a:solidFill>
                          <a:latin typeface="Figtree"/>
                        </a:rPr>
                        <a:t>Who</a:t>
                      </a:r>
                    </a:p>
                  </a:txBody>
                  <a:tcPr marL="101600" marR="101600" anchor="ctr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213D"/>
                          </a:solidFill>
                          <a:latin typeface="Figtree"/>
                        </a:rPr>
                        <a:t>When</a:t>
                      </a:r>
                    </a:p>
                  </a:txBody>
                  <a:tcPr marL="101600" marR="101600" anchor="ctr">
                    <a:solidFill>
                      <a:srgbClr val="E6EBF2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1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Domain live and website published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Us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Week 1 (site built)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2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Local 01908 tracking number, forwarded to you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Us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Week 1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3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Quote form delivering to your inbox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Us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Week 1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4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Search Console, Analytics and sitemap submitted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Us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Week 1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5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Google Business Profile for your business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Together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Weeks 1–3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6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Directory listings and local links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Us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Months 1–3</a:t>
                      </a:r>
                    </a:p>
                  </a:txBody>
                  <a:tcPr marL="101600" marR="101600" anchor="ctr">
                    <a:solidFill>
                      <a:srgbClr val="FBFBF8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7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Monthly report: calls, forms, rankings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Us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Figtree"/>
                        </a:rPr>
                        <a:t>Every month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800" y="62230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568"/>
                </a:solidFill>
                <a:latin typeface="Figtree"/>
              </a:rPr>
              <a:t>Directory listings include Bing Places, Apple Business Connect, Yell, Facebook and Nextdoor, with matching business details everywhere.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89"/>
                </a:solidFill>
                <a:latin typeface="Figtree"/>
              </a:rPr>
              <a:t>GOOGLE BUSINESS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975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213D"/>
                </a:solidFill>
                <a:latin typeface="Bricolage Grotesque"/>
              </a:rPr>
              <a:t>Your profile puts us on Google Maps, done by the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413000"/>
            <a:ext cx="6286500" cy="355600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200" y="2667000"/>
            <a:ext cx="5715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4E89"/>
                </a:solidFill>
                <a:latin typeface="Figtree"/>
              </a:rPr>
              <a:t>How we set it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200" y="3111500"/>
            <a:ext cx="5715000" cy="279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4213D"/>
                </a:solidFill>
                <a:latin typeface="Figtree"/>
              </a:rPr>
              <a:t>• Created in your business's real name and verified by you</a:t>
            </a:r>
          </a:p>
          <a:p>
            <a:pPr algn="l">
              <a:lnSpc>
                <a:spcPct val="130000"/>
              </a:lnSpc>
              <a:spcBef>
                <a:spcPts val="675"/>
              </a:spcBef>
            </a:pPr>
            <a:r>
              <a:rPr sz="1350" b="0">
                <a:solidFill>
                  <a:srgbClr val="14213D"/>
                </a:solidFill>
                <a:latin typeface="Figtree"/>
              </a:rPr>
              <a:t>• Set up as a service-area business covering Milton Keynes and the towns, with your home address hidden</a:t>
            </a:r>
          </a:p>
          <a:p>
            <a:pPr algn="l">
              <a:lnSpc>
                <a:spcPct val="130000"/>
              </a:lnSpc>
              <a:spcBef>
                <a:spcPts val="675"/>
              </a:spcBef>
            </a:pPr>
            <a:r>
              <a:rPr sz="1350" b="0">
                <a:solidFill>
                  <a:srgbClr val="14213D"/>
                </a:solidFill>
                <a:latin typeface="Figtree"/>
              </a:rPr>
              <a:t>• Main category "Garage door supplier", plus matching repair and installation categories</a:t>
            </a:r>
          </a:p>
          <a:p>
            <a:pPr algn="l">
              <a:lnSpc>
                <a:spcPct val="130000"/>
              </a:lnSpc>
              <a:spcBef>
                <a:spcPts val="675"/>
              </a:spcBef>
            </a:pPr>
            <a:r>
              <a:rPr sz="1350" b="0">
                <a:solidFill>
                  <a:srgbClr val="14213D"/>
                </a:solidFill>
                <a:latin typeface="Figtree"/>
              </a:rPr>
              <a:t>• Website set to our site; phone set to the 01908 tracking number</a:t>
            </a:r>
          </a:p>
          <a:p>
            <a:pPr algn="l">
              <a:lnSpc>
                <a:spcPct val="130000"/>
              </a:lnSpc>
              <a:spcBef>
                <a:spcPts val="675"/>
              </a:spcBef>
            </a:pPr>
            <a:r>
              <a:rPr sz="1350" b="0">
                <a:solidFill>
                  <a:srgbClr val="14213D"/>
                </a:solidFill>
                <a:latin typeface="Figtree"/>
              </a:rPr>
              <a:t>• Real photos of your van and jobs, weekly posts, and a review request after every job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02500" y="2413000"/>
            <a:ext cx="4076700" cy="35560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1900" y="2667000"/>
            <a:ext cx="3556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3A33B"/>
                </a:solidFill>
                <a:latin typeface="Figtree"/>
              </a:rPr>
              <a:t>What we never 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1900" y="3111500"/>
            <a:ext cx="3556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4F6F9"/>
                </a:solidFill>
                <a:latin typeface="Figtree"/>
              </a:rPr>
              <a:t>• Virtual office or made-up addresses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400" b="0">
                <a:solidFill>
                  <a:srgbClr val="F4F6F9"/>
                </a:solidFill>
                <a:latin typeface="Figtree"/>
              </a:rPr>
              <a:t>• Keyword-stuffed business names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400" b="0">
                <a:solidFill>
                  <a:srgbClr val="F4F6F9"/>
                </a:solidFill>
                <a:latin typeface="Figtree"/>
              </a:rPr>
              <a:t>• Fake or paid-for reviews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1900" y="4699000"/>
            <a:ext cx="3556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C3CCDA"/>
                </a:solidFill>
                <a:latin typeface="Figtree"/>
              </a:rPr>
              <a:t>Google suspends profiles that break its guidelines, and a suspension can take the whole listing off Maps.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89"/>
                </a:solidFill>
                <a:latin typeface="Figtree"/>
              </a:rPr>
              <a:t>CALLS AND FORWARDING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975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213D"/>
                </a:solidFill>
                <a:latin typeface="Bricolage Grotesque"/>
              </a:rPr>
              <a:t>Every call reaches you, and every call is counted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159000"/>
            <a:ext cx="3384550" cy="1714500"/>
          </a:xfrm>
          <a:prstGeom prst="roundRect">
            <a:avLst>
              <a:gd name="adj" fmla="val 5000"/>
            </a:avLst>
          </a:prstGeom>
          <a:solidFill>
            <a:srgbClr val="FBFBF8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400" y="2387600"/>
            <a:ext cx="2921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213D"/>
                </a:solidFill>
                <a:latin typeface="Figtree"/>
              </a:rPr>
              <a:t>Local 01908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1400" y="2768600"/>
            <a:ext cx="2921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A5568"/>
                </a:solidFill>
                <a:latin typeface="Figtree"/>
              </a:rPr>
              <a:t>A Milton Keynes number from a UK VoIP provider. Callers see a local business.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0550" y="2159000"/>
            <a:ext cx="3384550" cy="1714500"/>
          </a:xfrm>
          <a:prstGeom prst="roundRect">
            <a:avLst>
              <a:gd name="adj" fmla="val 5000"/>
            </a:avLst>
          </a:prstGeom>
          <a:solidFill>
            <a:srgbClr val="FBFBF8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9150" y="2387600"/>
            <a:ext cx="2921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213D"/>
                </a:solidFill>
                <a:latin typeface="Figtree"/>
              </a:rPr>
              <a:t>Instant forwarding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9150" y="2768600"/>
            <a:ext cx="2921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A5568"/>
                </a:solidFill>
                <a:latin typeface="Figtree"/>
              </a:rPr>
              <a:t>Rings your mobile or office straight away, or several phones at once.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88300" y="2159000"/>
            <a:ext cx="3384550" cy="1714500"/>
          </a:xfrm>
          <a:prstGeom prst="roundRect">
            <a:avLst>
              <a:gd name="adj" fmla="val 5000"/>
            </a:avLst>
          </a:prstGeom>
          <a:solidFill>
            <a:srgbClr val="FBFBF8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6900" y="2387600"/>
            <a:ext cx="2921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213D"/>
                </a:solidFill>
                <a:latin typeface="Figtree"/>
              </a:rPr>
              <a:t>Call whisper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6900" y="2768600"/>
            <a:ext cx="2921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A5568"/>
                </a:solidFill>
                <a:latin typeface="Figtree"/>
              </a:rPr>
              <a:t>You hear "Call from Garage Doors Milton Keynes" before it connects.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" y="4064000"/>
            <a:ext cx="3384550" cy="1714500"/>
          </a:xfrm>
          <a:prstGeom prst="roundRect">
            <a:avLst>
              <a:gd name="adj" fmla="val 5000"/>
            </a:avLst>
          </a:prstGeom>
          <a:solidFill>
            <a:srgbClr val="FBFBF8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292600"/>
            <a:ext cx="2921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213D"/>
                </a:solidFill>
                <a:latin typeface="Figtree"/>
              </a:rPr>
              <a:t>Recording and 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1400" y="4673600"/>
            <a:ext cx="2921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A5568"/>
                </a:solidFill>
                <a:latin typeface="Figtree"/>
              </a:rPr>
              <a:t>Time, duration and caller logged. Recording plays a short notice, as UK GDPR requires.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0550" y="4064000"/>
            <a:ext cx="3384550" cy="1714500"/>
          </a:xfrm>
          <a:prstGeom prst="roundRect">
            <a:avLst>
              <a:gd name="adj" fmla="val 5000"/>
            </a:avLst>
          </a:prstGeom>
          <a:solidFill>
            <a:srgbClr val="FBFBF8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9150" y="4292600"/>
            <a:ext cx="2921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213D"/>
                </a:solidFill>
                <a:latin typeface="Figtree"/>
              </a:rPr>
              <a:t>Missed-call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9150" y="4673600"/>
            <a:ext cx="2921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A5568"/>
                </a:solidFill>
                <a:latin typeface="Figtree"/>
              </a:rPr>
              <a:t>Text or email for missed calls, and voicemail sent to your inbox.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88300" y="4064000"/>
            <a:ext cx="3384550" cy="17145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6900" y="4292600"/>
            <a:ext cx="2921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4F6F9"/>
                </a:solidFill>
                <a:latin typeface="Figtree"/>
              </a:rPr>
              <a:t>Monthly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6900" y="4673600"/>
            <a:ext cx="2921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3CCDA"/>
                </a:solidFill>
                <a:latin typeface="Figtree"/>
              </a:rPr>
              <a:t>Calls, forms and rankings, so the fee is always tied to real leads.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62230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568"/>
                </a:solidFill>
                <a:latin typeface="Figtree"/>
              </a:rPr>
              <a:t>Providers such as Twilio, Telnyx, CallRail or Ringover offer UK geographic numbers with these features. We own the number, so it stays with the site.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89"/>
                </a:solidFill>
                <a:latin typeface="Figtree"/>
              </a:rPr>
              <a:t>PARTNERSHIP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975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213D"/>
                </a:solidFill>
                <a:latin typeface="Bricolage Grotesque"/>
              </a:rPr>
              <a:t>Three ways to work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159000"/>
            <a:ext cx="3384550" cy="3810000"/>
          </a:xfrm>
          <a:prstGeom prst="roundRect">
            <a:avLst>
              <a:gd name="adj" fmla="val 5000"/>
            </a:avLst>
          </a:prstGeom>
          <a:solidFill>
            <a:srgbClr val="FBFBF8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200" y="2438400"/>
            <a:ext cx="2825750" cy="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F4E89"/>
                </a:solidFill>
                <a:latin typeface="Bricolage Grotesque"/>
              </a:rPr>
              <a:t>£30–£50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200" y="2898775"/>
            <a:ext cx="282575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213D"/>
                </a:solidFill>
                <a:latin typeface="Figtree"/>
              </a:rPr>
              <a:t>Pay per 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200" y="3279775"/>
            <a:ext cx="2825750" cy="2498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A5568"/>
                </a:solidFill>
                <a:latin typeface="Figtree"/>
              </a:rPr>
              <a:t>Per genuine call or form. The low-risk start: you only pay for enquiries that come 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0550" y="2159000"/>
            <a:ext cx="3384550" cy="38100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9950" y="2438400"/>
            <a:ext cx="2825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3A33B"/>
                </a:solidFill>
                <a:latin typeface="Figtree"/>
              </a:rPr>
              <a:t>RECOMMENDED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9950" y="2743200"/>
            <a:ext cx="2825750" cy="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E3A33B"/>
                </a:solidFill>
                <a:latin typeface="Bricolage Grotesque"/>
              </a:rPr>
              <a:t>£600–£1,000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9950" y="3203575"/>
            <a:ext cx="282575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4F6F9"/>
                </a:solidFill>
                <a:latin typeface="Figtree"/>
              </a:rPr>
              <a:t>Exclusive monthly 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9950" y="3584575"/>
            <a:ext cx="2825750" cy="219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C3CCDA"/>
                </a:solidFill>
                <a:latin typeface="Figtree"/>
              </a:rPr>
              <a:t>Per month, all leads. Every call and form for the whole area, for one fixed fee.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300" y="2159000"/>
            <a:ext cx="3390900" cy="3810000"/>
          </a:xfrm>
          <a:prstGeom prst="roundRect">
            <a:avLst>
              <a:gd name="adj" fmla="val 5000"/>
            </a:avLst>
          </a:prstGeom>
          <a:solidFill>
            <a:srgbClr val="FBFBF8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7700" y="2438400"/>
            <a:ext cx="2832100" cy="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F4E89"/>
                </a:solidFill>
                <a:latin typeface="Bricolage Grotesque"/>
              </a:rPr>
              <a:t>Base + lead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7700" y="2898775"/>
            <a:ext cx="28321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213D"/>
                </a:solidFill>
                <a:latin typeface="Figtree"/>
              </a:rPr>
              <a:t>Hybrid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7700" y="3279775"/>
            <a:ext cx="2832100" cy="2498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A5568"/>
                </a:solidFill>
                <a:latin typeface="Figtree"/>
              </a:rPr>
              <a:t>A lower monthly fee plus a smaller per-lead fee. A balance of steady cost and pay-for-results.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62230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568"/>
                </a:solidFill>
                <a:latin typeface="Figtree"/>
              </a:rPr>
              <a:t>Suggested starting prices for discussion. Final figures are agreed once lead volumes are tracked.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89"/>
                </a:solidFill>
                <a:latin typeface="Figtree"/>
              </a:rPr>
              <a:t>WHO DOES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975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213D"/>
                </a:solidFill>
                <a:latin typeface="Bricolage Grotesque"/>
              </a:rPr>
              <a:t>A clear split keeps the leads flowing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159000"/>
            <a:ext cx="5181600" cy="3810000"/>
          </a:xfrm>
          <a:prstGeom prst="roundRect">
            <a:avLst>
              <a:gd name="adj" fmla="val 5000"/>
            </a:avLst>
          </a:prstGeom>
          <a:solidFill>
            <a:srgbClr val="FBFBF8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7600" y="2159000"/>
            <a:ext cx="5181600" cy="38100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200" y="2413000"/>
            <a:ext cx="4572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4E89"/>
                </a:solidFill>
                <a:latin typeface="Figtree"/>
              </a:rPr>
              <a:t>We handle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200" y="2857500"/>
            <a:ext cx="4572000" cy="298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4213D"/>
                </a:solidFill>
                <a:latin typeface="Figtree"/>
              </a:rPr>
              <a:t>• Website, hosting, content and rankings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400" b="0">
                <a:solidFill>
                  <a:srgbClr val="14213D"/>
                </a:solidFill>
                <a:latin typeface="Figtree"/>
              </a:rPr>
              <a:t>• The 01908 number, forwarding and call recording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400" b="0">
                <a:solidFill>
                  <a:srgbClr val="14213D"/>
                </a:solidFill>
                <a:latin typeface="Figtree"/>
              </a:rPr>
              <a:t>• Directory listings and local links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400" b="0">
                <a:solidFill>
                  <a:srgbClr val="14213D"/>
                </a:solidFill>
                <a:latin typeface="Figtree"/>
              </a:rPr>
              <a:t>• A monthly report of every call and form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400" b="0">
                <a:solidFill>
                  <a:srgbClr val="14213D"/>
                </a:solidFill>
                <a:latin typeface="Figtree"/>
              </a:rPr>
              <a:t>• Exclusivity: no other installer gets these leads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2413000"/>
            <a:ext cx="4572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3A33B"/>
                </a:solidFill>
                <a:latin typeface="Figtree"/>
              </a:rPr>
              <a:t>You handle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2857500"/>
            <a:ext cx="4572000" cy="298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4F6F9"/>
                </a:solidFill>
                <a:latin typeface="Figtree"/>
              </a:rPr>
              <a:t>• Answer calls quickly, or call back within the hour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400" b="0">
                <a:solidFill>
                  <a:srgbClr val="F4F6F9"/>
                </a:solidFill>
                <a:latin typeface="Figtree"/>
              </a:rPr>
              <a:t>• Survey, quote and fit to a good standard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400" b="0">
                <a:solidFill>
                  <a:srgbClr val="F4F6F9"/>
                </a:solidFill>
                <a:latin typeface="Figtree"/>
              </a:rPr>
              <a:t>• Verify and own your Google Business Profile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400" b="0">
                <a:solidFill>
                  <a:srgbClr val="F4F6F9"/>
                </a:solidFill>
                <a:latin typeface="Figtree"/>
              </a:rPr>
              <a:t>• Send real job photos and ask customers for reviews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400" b="0">
                <a:solidFill>
                  <a:srgbClr val="F4F6F9"/>
                </a:solidFill>
                <a:latin typeface="Figtree"/>
              </a:rPr>
              <a:t>• Keep the price guide on the site accurate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89"/>
                </a:solidFill>
                <a:latin typeface="Figtree"/>
              </a:rP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975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213D"/>
                </a:solidFill>
                <a:latin typeface="Bricolage Grotesque"/>
              </a:rPr>
              <a:t>Leads build over the first year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286000"/>
            <a:ext cx="2489200" cy="330200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" y="2286000"/>
            <a:ext cx="2489200" cy="63500"/>
          </a:xfrm>
          <a:prstGeom prst="rect">
            <a:avLst/>
          </a:prstGeom>
          <a:solidFill>
            <a:srgbClr val="7C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1400" y="2540000"/>
            <a:ext cx="2095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89"/>
                </a:solidFill>
                <a:latin typeface="Figtree"/>
              </a:rPr>
              <a:t>Month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1400" y="29210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213D"/>
                </a:solidFill>
                <a:latin typeface="Figtree"/>
              </a:rPr>
              <a:t>Live and indexed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3429000"/>
            <a:ext cx="2032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A5568"/>
                </a:solidFill>
                <a:latin typeface="Figtree"/>
              </a:rPr>
              <a:t>Site, number, form and profile set up. Google starts finding the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5200" y="2286000"/>
            <a:ext cx="2489200" cy="330200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5200" y="2286000"/>
            <a:ext cx="2489200" cy="63500"/>
          </a:xfrm>
          <a:prstGeom prst="rect">
            <a:avLst/>
          </a:prstGeom>
          <a:solidFill>
            <a:srgbClr val="7C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3800" y="2540000"/>
            <a:ext cx="2095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89"/>
                </a:solidFill>
                <a:latin typeface="Figtree"/>
              </a:rPr>
              <a:t>Months 2–3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3800" y="29210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213D"/>
                </a:solidFill>
                <a:latin typeface="Figtree"/>
              </a:rPr>
              <a:t>First calls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800" y="3429000"/>
            <a:ext cx="2032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A5568"/>
                </a:solidFill>
                <a:latin typeface="Figtree"/>
              </a:rPr>
              <a:t>Specific searches like door types in a town start ranking.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7600" y="2286000"/>
            <a:ext cx="2489200" cy="330200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7600" y="2286000"/>
            <a:ext cx="2489200" cy="63500"/>
          </a:xfrm>
          <a:prstGeom prst="rect">
            <a:avLst/>
          </a:prstGeom>
          <a:solidFill>
            <a:srgbClr val="1F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6200" y="2540000"/>
            <a:ext cx="2095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89"/>
                </a:solidFill>
                <a:latin typeface="Figtree"/>
              </a:rPr>
              <a:t>Months 4–6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29210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213D"/>
                </a:solidFill>
                <a:latin typeface="Figtree"/>
              </a:rPr>
              <a:t>Steady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6200" y="3429000"/>
            <a:ext cx="2032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A5568"/>
                </a:solidFill>
                <a:latin typeface="Figtree"/>
              </a:rPr>
              <a:t>Area pages and Maps listing gain ground; leads become regular.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90000" y="2286000"/>
            <a:ext cx="2489200" cy="33020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90000" y="2286000"/>
            <a:ext cx="2489200" cy="63500"/>
          </a:xfrm>
          <a:prstGeom prst="rect">
            <a:avLst/>
          </a:prstGeom>
          <a:solidFill>
            <a:srgbClr val="E3A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8600" y="2540000"/>
            <a:ext cx="2095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3A33B"/>
                </a:solidFill>
                <a:latin typeface="Figtree"/>
              </a:rPr>
              <a:t>Months 6–12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8600" y="29210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4F6F9"/>
                </a:solidFill>
                <a:latin typeface="Figtree"/>
              </a:rPr>
              <a:t>Main terms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8600" y="3429000"/>
            <a:ext cx="2032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3CCDA"/>
                </a:solidFill>
                <a:latin typeface="Figtree"/>
              </a:rPr>
              <a:t>Competing for "garage doors Milton Keynes" and the biggest searches.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" y="62230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568"/>
                </a:solidFill>
                <a:latin typeface="Figtree"/>
              </a:rPr>
              <a:t>A typical path for a new local site. Timings vary with competition and Google updates; rankings are never guaranteed.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5240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3A33B"/>
                </a:solidFill>
                <a:latin typeface="Figtree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841500"/>
            <a:ext cx="533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4F6F9"/>
                </a:solidFill>
                <a:latin typeface="Bricolage Grotesque"/>
              </a:rPr>
              <a:t>Start with a trial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175000"/>
            <a:ext cx="48260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F4F6F9"/>
                </a:solidFill>
                <a:latin typeface="Figtree"/>
              </a:rPr>
              <a:t>1.  Agree the area and the starting model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600" b="0">
                <a:solidFill>
                  <a:srgbClr val="F4F6F9"/>
                </a:solidFill>
                <a:latin typeface="Figtree"/>
              </a:rPr>
              <a:t>2.  We point the 01908 number at your phone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600" b="0">
                <a:solidFill>
                  <a:srgbClr val="F4F6F9"/>
                </a:solidFill>
                <a:latin typeface="Figtree"/>
              </a:rPr>
              <a:t>3.  Take the calls, quote and win the jobs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600" b="0">
                <a:solidFill>
                  <a:srgbClr val="F4F6F9"/>
                </a:solidFill>
                <a:latin typeface="Figtree"/>
              </a:rPr>
              <a:t>4.  Review the numbers together after 30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13500" y="1841500"/>
            <a:ext cx="4965700" cy="330200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100" y="2159000"/>
            <a:ext cx="3302000" cy="698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9100" y="3175000"/>
            <a:ext cx="4318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4A5568"/>
                </a:solidFill>
                <a:latin typeface="Figtree"/>
              </a:rPr>
              <a:t>Muhammad Usman Siddiqui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400" b="0">
                <a:solidFill>
                  <a:srgbClr val="4A5568"/>
                </a:solidFill>
                <a:latin typeface="Figtree"/>
              </a:rPr>
              <a:t>siddiquiusman93@gmail.com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400" b="0">
                <a:solidFill>
                  <a:srgbClr val="4A5568"/>
                </a:solidFill>
                <a:latin typeface="Figtree"/>
              </a:rPr>
              <a:t>[Phone number]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400" b="1">
                <a:solidFill>
                  <a:srgbClr val="1F4E89"/>
                </a:solidFill>
                <a:latin typeface="Figtree"/>
              </a:rPr>
              <a:t>garage-doors-milton-keynes.co.uk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